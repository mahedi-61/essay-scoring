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30"/>
  </p:notesMasterIdLst>
  <p:sldIdLst>
    <p:sldId id="256" r:id="rId2"/>
    <p:sldId id="257" r:id="rId3"/>
    <p:sldId id="285" r:id="rId4"/>
    <p:sldId id="286" r:id="rId5"/>
    <p:sldId id="261" r:id="rId6"/>
    <p:sldId id="259" r:id="rId7"/>
    <p:sldId id="260" r:id="rId8"/>
    <p:sldId id="262" r:id="rId9"/>
    <p:sldId id="263" r:id="rId10"/>
    <p:sldId id="264" r:id="rId11"/>
    <p:sldId id="287" r:id="rId12"/>
    <p:sldId id="288" r:id="rId13"/>
    <p:sldId id="292" r:id="rId14"/>
    <p:sldId id="267" r:id="rId15"/>
    <p:sldId id="268" r:id="rId16"/>
    <p:sldId id="269" r:id="rId17"/>
    <p:sldId id="271" r:id="rId18"/>
    <p:sldId id="272" r:id="rId19"/>
    <p:sldId id="291" r:id="rId20"/>
    <p:sldId id="273" r:id="rId21"/>
    <p:sldId id="290" r:id="rId22"/>
    <p:sldId id="289" r:id="rId23"/>
    <p:sldId id="277" r:id="rId24"/>
    <p:sldId id="278" r:id="rId25"/>
    <p:sldId id="284" r:id="rId26"/>
    <p:sldId id="279" r:id="rId27"/>
    <p:sldId id="280" r:id="rId28"/>
    <p:sldId id="282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78C82F-7B80-45E6-A835-EAEE2757C0BB}">
          <p14:sldIdLst>
            <p14:sldId id="256"/>
            <p14:sldId id="257"/>
            <p14:sldId id="285"/>
            <p14:sldId id="286"/>
            <p14:sldId id="261"/>
            <p14:sldId id="259"/>
            <p14:sldId id="260"/>
            <p14:sldId id="262"/>
            <p14:sldId id="263"/>
            <p14:sldId id="264"/>
            <p14:sldId id="287"/>
            <p14:sldId id="288"/>
            <p14:sldId id="292"/>
            <p14:sldId id="267"/>
            <p14:sldId id="268"/>
            <p14:sldId id="269"/>
            <p14:sldId id="271"/>
            <p14:sldId id="272"/>
            <p14:sldId id="291"/>
            <p14:sldId id="273"/>
            <p14:sldId id="290"/>
            <p14:sldId id="289"/>
            <p14:sldId id="277"/>
            <p14:sldId id="278"/>
            <p14:sldId id="284"/>
            <p14:sldId id="279"/>
            <p14:sldId id="280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54" autoAdjust="0"/>
    <p:restoredTop sz="94533" autoAdjust="0"/>
  </p:normalViewPr>
  <p:slideViewPr>
    <p:cSldViewPr>
      <p:cViewPr varScale="1">
        <p:scale>
          <a:sx n="76" d="100"/>
          <a:sy n="76" d="100"/>
        </p:scale>
        <p:origin x="1206" y="60"/>
      </p:cViewPr>
      <p:guideLst/>
    </p:cSldViewPr>
  </p:slideViewPr>
  <p:outlineViewPr>
    <p:cViewPr>
      <p:scale>
        <a:sx n="33" d="100"/>
        <a:sy n="33" d="100"/>
      </p:scale>
      <p:origin x="0" y="151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599382430137408"/>
          <c:y val="3.5625120030727868E-2"/>
          <c:w val="0.8424375482476455"/>
          <c:h val="0.7673785289033994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Incremental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Sheet1!$A$2:$A$10</c:f>
              <c:numCache>
                <c:formatCode>General</c:formatCode>
                <c:ptCount val="9"/>
                <c:pt idx="0">
                  <c:v>31552</c:v>
                </c:pt>
                <c:pt idx="1">
                  <c:v>47328</c:v>
                </c:pt>
                <c:pt idx="2">
                  <c:v>63104</c:v>
                </c:pt>
                <c:pt idx="3">
                  <c:v>78880</c:v>
                </c:pt>
                <c:pt idx="4">
                  <c:v>94656</c:v>
                </c:pt>
                <c:pt idx="5">
                  <c:v>110432</c:v>
                </c:pt>
                <c:pt idx="6">
                  <c:v>126208</c:v>
                </c:pt>
                <c:pt idx="7">
                  <c:v>141984</c:v>
                </c:pt>
                <c:pt idx="8">
                  <c:v>157760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141.661</c:v>
                </c:pt>
                <c:pt idx="1">
                  <c:v>231.75899999999999</c:v>
                </c:pt>
                <c:pt idx="2">
                  <c:v>339.327</c:v>
                </c:pt>
                <c:pt idx="3">
                  <c:v>460.74200000000002</c:v>
                </c:pt>
                <c:pt idx="4">
                  <c:v>592.24400000000003</c:v>
                </c:pt>
                <c:pt idx="5">
                  <c:v>680.37199999999996</c:v>
                </c:pt>
                <c:pt idx="6">
                  <c:v>824.69299999999998</c:v>
                </c:pt>
                <c:pt idx="7">
                  <c:v>978.25400000000002</c:v>
                </c:pt>
                <c:pt idx="8">
                  <c:v>1145.3810000000001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Conventional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Sheet1!$A$2:$A$10</c:f>
              <c:numCache>
                <c:formatCode>General</c:formatCode>
                <c:ptCount val="9"/>
                <c:pt idx="0">
                  <c:v>31552</c:v>
                </c:pt>
                <c:pt idx="1">
                  <c:v>47328</c:v>
                </c:pt>
                <c:pt idx="2">
                  <c:v>63104</c:v>
                </c:pt>
                <c:pt idx="3">
                  <c:v>78880</c:v>
                </c:pt>
                <c:pt idx="4">
                  <c:v>94656</c:v>
                </c:pt>
                <c:pt idx="5">
                  <c:v>110432</c:v>
                </c:pt>
                <c:pt idx="6">
                  <c:v>126208</c:v>
                </c:pt>
                <c:pt idx="7">
                  <c:v>141984</c:v>
                </c:pt>
                <c:pt idx="8">
                  <c:v>157760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1111.3240000000001</c:v>
                </c:pt>
                <c:pt idx="1">
                  <c:v>1692.691</c:v>
                </c:pt>
                <c:pt idx="2">
                  <c:v>2617.1370000000002</c:v>
                </c:pt>
                <c:pt idx="3">
                  <c:v>3858.1840000000002</c:v>
                </c:pt>
                <c:pt idx="4">
                  <c:v>5466.0190000000002</c:v>
                </c:pt>
                <c:pt idx="5">
                  <c:v>7929.2169999999996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60905120"/>
        <c:axId val="260905512"/>
      </c:lineChart>
      <c:catAx>
        <c:axId val="2609051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baseline="0" dirty="0">
                    <a:solidFill>
                      <a:schemeClr val="tx1"/>
                    </a:solidFill>
                    <a:latin typeface="Palatino Linotype" panose="02040502050505030304" pitchFamily="18" charset="0"/>
                  </a:rPr>
                  <a:t>Size of the training set</a:t>
                </a:r>
              </a:p>
            </c:rich>
          </c:tx>
          <c:layout>
            <c:manualLayout>
              <c:xMode val="edge"/>
              <c:yMode val="edge"/>
              <c:x val="0.36541346302300448"/>
              <c:y val="0.913044459381601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0905512"/>
        <c:crosses val="autoZero"/>
        <c:auto val="1"/>
        <c:lblAlgn val="ctr"/>
        <c:lblOffset val="100"/>
        <c:noMultiLvlLbl val="0"/>
      </c:catAx>
      <c:valAx>
        <c:axId val="260905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solidFill>
                      <a:schemeClr val="tx1"/>
                    </a:solidFill>
                  </a:rPr>
                  <a:t>Computing</a:t>
                </a:r>
                <a:r>
                  <a:rPr lang="en-US" sz="1800" dirty="0"/>
                  <a:t> </a:t>
                </a:r>
                <a:r>
                  <a:rPr lang="en-US" sz="1800" dirty="0">
                    <a:solidFill>
                      <a:schemeClr val="tx1"/>
                    </a:solidFill>
                  </a:rPr>
                  <a:t>times</a:t>
                </a:r>
                <a:r>
                  <a:rPr lang="en-US" sz="1800" dirty="0"/>
                  <a:t> </a:t>
                </a:r>
                <a:r>
                  <a:rPr lang="en-US" sz="1800" dirty="0">
                    <a:solidFill>
                      <a:schemeClr val="tx1"/>
                    </a:solidFill>
                  </a:rPr>
                  <a:t>(s)</a:t>
                </a:r>
              </a:p>
            </c:rich>
          </c:tx>
          <c:layout>
            <c:manualLayout>
              <c:xMode val="edge"/>
              <c:yMode val="edge"/>
              <c:x val="0"/>
              <c:y val="0.21171523910120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0905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195985795893158"/>
          <c:y val="0.12503504897253695"/>
          <c:w val="0.24078524008028404"/>
          <c:h val="0.134076243518340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79BF9-E935-4946-A89A-FD54B5941373}" type="datetimeFigureOut">
              <a:rPr lang="en-US" smtClean="0"/>
              <a:t>9/1/2016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9A956-4C3E-4D07-8CD4-BC0975F86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519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84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Test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42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73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87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90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42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42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42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42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42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99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42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474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891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421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421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421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421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421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9A956-4C3E-4D07-8CD4-BC0975F862B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42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1B77-3EB7-4150-AAD3-46EDD6728DE8}" type="datetimeFigureOut">
              <a:rPr lang="en-US" smtClean="0"/>
              <a:t>9/1/2016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5F6715-8A4F-4280-B2C9-CF9D508A256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1B77-3EB7-4150-AAD3-46EDD6728DE8}" type="datetimeFigureOut">
              <a:rPr lang="en-US" smtClean="0"/>
              <a:t>9/1/2016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715-8A4F-4280-B2C9-CF9D508A25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1B77-3EB7-4150-AAD3-46EDD6728DE8}" type="datetimeFigureOut">
              <a:rPr lang="en-US" smtClean="0"/>
              <a:t>9/1/2016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715-8A4F-4280-B2C9-CF9D508A256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1B77-3EB7-4150-AAD3-46EDD6728DE8}" type="datetimeFigureOut">
              <a:rPr lang="en-US" smtClean="0"/>
              <a:t>9/1/2016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715-8A4F-4280-B2C9-CF9D508A256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1B77-3EB7-4150-AAD3-46EDD6728DE8}" type="datetimeFigureOut">
              <a:rPr lang="en-US" smtClean="0"/>
              <a:t>9/1/2016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715-8A4F-4280-B2C9-CF9D508A256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1B77-3EB7-4150-AAD3-46EDD6728DE8}" type="datetimeFigureOut">
              <a:rPr lang="en-US" smtClean="0"/>
              <a:t>9/1/2016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715-8A4F-4280-B2C9-CF9D508A25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1B77-3EB7-4150-AAD3-46EDD6728DE8}" type="datetimeFigureOut">
              <a:rPr lang="en-US" smtClean="0"/>
              <a:t>9/1/2016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715-8A4F-4280-B2C9-CF9D508A25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1B77-3EB7-4150-AAD3-46EDD6728DE8}" type="datetimeFigureOut">
              <a:rPr lang="en-US" smtClean="0"/>
              <a:t>9/1/2016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715-8A4F-4280-B2C9-CF9D508A25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1B77-3EB7-4150-AAD3-46EDD6728DE8}" type="datetimeFigureOut">
              <a:rPr lang="en-US" smtClean="0"/>
              <a:t>9/1/2016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715-8A4F-4280-B2C9-CF9D508A25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1B77-3EB7-4150-AAD3-46EDD6728DE8}" type="datetimeFigureOut">
              <a:rPr lang="en-US" smtClean="0"/>
              <a:t>9/1/2016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715-8A4F-4280-B2C9-CF9D508A25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1B77-3EB7-4150-AAD3-46EDD6728DE8}" type="datetimeFigureOut">
              <a:rPr lang="en-US" smtClean="0"/>
              <a:t>9/1/2016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F6715-8A4F-4280-B2C9-CF9D508A25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8071B77-3EB7-4150-AAD3-46EDD6728DE8}" type="datetimeFigureOut">
              <a:rPr lang="en-US" smtClean="0"/>
              <a:t>9/1/2016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785F6715-8A4F-4280-B2C9-CF9D508A256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609600"/>
            <a:ext cx="8077200" cy="2133600"/>
          </a:xfrm>
        </p:spPr>
        <p:txBody>
          <a:bodyPr/>
          <a:lstStyle/>
          <a:p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 smtClean="0"/>
              <a:t>Automated </a:t>
            </a:r>
            <a:r>
              <a:rPr lang="en-US" sz="4400" dirty="0"/>
              <a:t>Essay Scoring </a:t>
            </a: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3200" dirty="0" smtClean="0"/>
              <a:t>Using </a:t>
            </a:r>
            <a:r>
              <a:rPr lang="en-US" sz="3200" dirty="0"/>
              <a:t>Incremental</a:t>
            </a:r>
            <a:br>
              <a:rPr lang="en-US" sz="3200" dirty="0"/>
            </a:br>
            <a:r>
              <a:rPr lang="en-US" sz="3200" dirty="0"/>
              <a:t>Latent Semantic Analysis</a:t>
            </a:r>
            <a:r>
              <a:rPr lang="en-US" sz="4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964" y="4450609"/>
            <a:ext cx="2982036" cy="1119809"/>
          </a:xfrm>
        </p:spPr>
        <p:txBody>
          <a:bodyPr>
            <a:noAutofit/>
          </a:bodyPr>
          <a:lstStyle/>
          <a:p>
            <a:r>
              <a:rPr lang="en-US" sz="2000" dirty="0" err="1">
                <a:solidFill>
                  <a:schemeClr val="tx1"/>
                </a:solidFill>
              </a:rPr>
              <a:t>Dengfeng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Ke</a:t>
            </a: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Institute of Automation, Chinese Academy of Sciences</a:t>
            </a:r>
            <a:endParaRPr lang="en-US" sz="10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251213" y="3102200"/>
            <a:ext cx="4641574" cy="13484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solidFill>
                  <a:schemeClr val="tx1"/>
                </a:solidFill>
              </a:rPr>
              <a:t>Mingqing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Zhang</a:t>
            </a:r>
            <a:r>
              <a:rPr lang="en-US" sz="2000" i="1" dirty="0" err="1">
                <a:solidFill>
                  <a:schemeClr val="tx1"/>
                </a:solidFill>
              </a:rPr>
              <a:t>a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Shudong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Hao</a:t>
            </a:r>
            <a:r>
              <a:rPr lang="en-US" sz="2000" i="1" dirty="0" err="1">
                <a:solidFill>
                  <a:schemeClr val="tx1"/>
                </a:solidFill>
              </a:rPr>
              <a:t>a</a:t>
            </a:r>
            <a:r>
              <a:rPr lang="en-US" sz="2000" dirty="0">
                <a:solidFill>
                  <a:schemeClr val="tx1"/>
                </a:solidFill>
              </a:rPr>
              <a:t>, Yanyan </a:t>
            </a:r>
            <a:r>
              <a:rPr lang="en-US" sz="2000" dirty="0" err="1" smtClean="0">
                <a:solidFill>
                  <a:schemeClr val="tx1"/>
                </a:solidFill>
              </a:rPr>
              <a:t>Xu</a:t>
            </a:r>
            <a:r>
              <a:rPr lang="en-US" sz="2000" i="1" dirty="0" err="1" smtClean="0">
                <a:solidFill>
                  <a:schemeClr val="tx1"/>
                </a:solidFill>
              </a:rPr>
              <a:t>a</a:t>
            </a:r>
            <a:endParaRPr lang="en-US" sz="2000" i="1" dirty="0" smtClean="0">
              <a:solidFill>
                <a:schemeClr val="tx1"/>
              </a:solidFill>
            </a:endParaRPr>
          </a:p>
          <a:p>
            <a:r>
              <a:rPr lang="en-US" sz="1400" dirty="0" smtClean="0">
                <a:solidFill>
                  <a:schemeClr val="tx1"/>
                </a:solidFill>
              </a:rPr>
              <a:t>School </a:t>
            </a:r>
            <a:r>
              <a:rPr lang="en-US" sz="1400" dirty="0">
                <a:solidFill>
                  <a:schemeClr val="tx1"/>
                </a:solidFill>
              </a:rPr>
              <a:t>of Information Science and Technology</a:t>
            </a:r>
            <a:r>
              <a:rPr lang="en-US" sz="1400" dirty="0" smtClean="0">
                <a:solidFill>
                  <a:schemeClr val="tx1"/>
                </a:solidFill>
              </a:rPr>
              <a:t>,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Beijing Forestry University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233288"/>
            <a:ext cx="777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JOURNAL OF SOFTWARE, VOL. 9, NO. 2, FEBRUARY 2014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4372899"/>
            <a:ext cx="3505200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latin typeface="+mj-lt"/>
              </a:rPr>
              <a:t>Hengli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Peng</a:t>
            </a:r>
            <a:endParaRPr lang="en-US" sz="2000" dirty="0" smtClean="0">
              <a:latin typeface="+mj-lt"/>
            </a:endParaRPr>
          </a:p>
          <a:p>
            <a:pPr algn="ctr"/>
            <a:r>
              <a:rPr lang="en-US" sz="1400" dirty="0">
                <a:latin typeface="+mj-lt"/>
              </a:rPr>
              <a:t>Institute of Educational Measurement, Beijing Language and Culture University</a:t>
            </a:r>
          </a:p>
        </p:txBody>
      </p:sp>
    </p:spTree>
    <p:extLst>
      <p:ext uri="{BB962C8B-B14F-4D97-AF65-F5344CB8AC3E}">
        <p14:creationId xmlns:p14="http://schemas.microsoft.com/office/powerpoint/2010/main" val="148622388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Overview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>
          <a:xfrm>
            <a:off x="533400" y="1143000"/>
            <a:ext cx="8077200" cy="3886200"/>
          </a:xfrm>
        </p:spPr>
        <p:txBody>
          <a:bodyPr/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Method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Experimental Results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79479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40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What is AES?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5181600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AES models </a:t>
            </a:r>
            <a:r>
              <a:rPr lang="en-US" dirty="0"/>
              <a:t>are able to make predictions that </a:t>
            </a:r>
            <a:r>
              <a:rPr lang="en-US" dirty="0" smtClean="0"/>
              <a:t> closely </a:t>
            </a:r>
            <a:r>
              <a:rPr lang="en-US" dirty="0"/>
              <a:t>match those made by human graders.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514600"/>
            <a:ext cx="3657600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2514600"/>
            <a:ext cx="3634408" cy="21431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3400" y="1143000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AES is the art of giving </a:t>
            </a:r>
            <a:r>
              <a:rPr lang="en-US" dirty="0" smtClean="0"/>
              <a:t>students                   ,                 </a:t>
            </a:r>
            <a:r>
              <a:rPr lang="en-US" dirty="0"/>
              <a:t>and </a:t>
            </a:r>
            <a:r>
              <a:rPr lang="en-US" dirty="0" smtClean="0"/>
              <a:t>               scores and feedback on </a:t>
            </a:r>
            <a:r>
              <a:rPr lang="en-US" dirty="0"/>
              <a:t>their essays and constructed responses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953000" y="1143000"/>
            <a:ext cx="1081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iterative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810000" y="1143000"/>
            <a:ext cx="1263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automatic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885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correct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99750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How does it work?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533399" y="1104900"/>
            <a:ext cx="2364179" cy="10668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 smtClean="0"/>
              <a:t>Students  write essays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3505200" y="1828800"/>
            <a:ext cx="2819400" cy="1371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 smtClean="0"/>
              <a:t>Teacher grade some sample of essays</a:t>
            </a:r>
            <a:endParaRPr lang="en-US" sz="2000" b="1" dirty="0"/>
          </a:p>
        </p:txBody>
      </p:sp>
      <p:sp>
        <p:nvSpPr>
          <p:cNvPr id="6" name="Oval 5"/>
          <p:cNvSpPr/>
          <p:nvPr/>
        </p:nvSpPr>
        <p:spPr>
          <a:xfrm>
            <a:off x="3733800" y="3657600"/>
            <a:ext cx="2362200" cy="12192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smtClean="0"/>
              <a:t>AES Model is trained </a:t>
            </a:r>
            <a:endParaRPr lang="en-US" b="1" dirty="0"/>
          </a:p>
        </p:txBody>
      </p:sp>
      <p:sp>
        <p:nvSpPr>
          <p:cNvPr id="10" name="Oval 9"/>
          <p:cNvSpPr/>
          <p:nvPr/>
        </p:nvSpPr>
        <p:spPr>
          <a:xfrm>
            <a:off x="441672" y="4876800"/>
            <a:ext cx="2938670" cy="139810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 smtClean="0"/>
              <a:t>Model Automatically scores essays</a:t>
            </a:r>
            <a:endParaRPr lang="en-US" sz="2000" b="1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897578" y="1714500"/>
            <a:ext cx="632096" cy="491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380343" y="4938897"/>
            <a:ext cx="1191656" cy="547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4"/>
          </p:cNvCxnSpPr>
          <p:nvPr/>
        </p:nvCxnSpPr>
        <p:spPr>
          <a:xfrm flipH="1">
            <a:off x="1714501" y="2171700"/>
            <a:ext cx="988" cy="2705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914900" y="32004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 rot="2174806">
            <a:off x="2868884" y="1723078"/>
            <a:ext cx="892620" cy="41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754553" y="3200401"/>
            <a:ext cx="320694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 rot="4210805" flipH="1">
            <a:off x="3766617" y="4552734"/>
            <a:ext cx="340276" cy="14004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495190" y="2171700"/>
            <a:ext cx="320694" cy="2705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343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2" presetClass="exit" presetSubtype="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2" presetClass="exit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" presetClass="exit" presetSubtype="1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8" grpId="0" animBg="1"/>
      <p:bldP spid="16" grpId="0" animBg="1"/>
      <p:bldP spid="20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Why AES?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>
          <a:xfrm>
            <a:off x="533400" y="1143000"/>
            <a:ext cx="8077200" cy="29718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  <a:cs typeface="Times New Roman" pitchFamily="18" charset="0"/>
              </a:rPr>
              <a:t>S</a:t>
            </a:r>
            <a:r>
              <a:rPr lang="en-US" sz="1800" dirty="0" smtClean="0">
                <a:solidFill>
                  <a:schemeClr val="tx1"/>
                </a:solidFill>
                <a:latin typeface="+mn-lt"/>
                <a:cs typeface="Times New Roman" pitchFamily="18" charset="0"/>
              </a:rPr>
              <a:t>coring students writing </a:t>
            </a:r>
          </a:p>
          <a:p>
            <a:pPr algn="l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algn="l">
              <a:buFont typeface="Wingdings" panose="05000000000000000000" pitchFamily="2" charset="2"/>
              <a:buChar char="v"/>
            </a:pPr>
            <a:r>
              <a:rPr lang="en-US" sz="1800" dirty="0" smtClean="0">
                <a:solidFill>
                  <a:schemeClr val="tx1"/>
                </a:solidFill>
                <a:latin typeface="+mn-lt"/>
                <a:cs typeface="Times New Roman" pitchFamily="18" charset="0"/>
              </a:rPr>
              <a:t>Often 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Times New Roman" pitchFamily="18" charset="0"/>
              </a:rPr>
              <a:t>lead to an inaccuracy in </a:t>
            </a:r>
            <a:r>
              <a:rPr lang="en-US" sz="1800" dirty="0" smtClean="0">
                <a:solidFill>
                  <a:schemeClr val="tx1"/>
                </a:solidFill>
                <a:latin typeface="+mn-lt"/>
                <a:cs typeface="Times New Roman" pitchFamily="18" charset="0"/>
              </a:rPr>
              <a:t>grading</a:t>
            </a:r>
          </a:p>
          <a:p>
            <a:pPr marL="742950" lvl="2" indent="-285750" algn="l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+mn-lt"/>
                <a:cs typeface="Times New Roman" pitchFamily="18" charset="0"/>
              </a:rPr>
              <a:t>Very much time consuming and </a:t>
            </a:r>
            <a:r>
              <a:rPr lang="en-US" sz="1800" dirty="0" smtClean="0">
                <a:solidFill>
                  <a:schemeClr val="tx1"/>
                </a:solidFill>
                <a:latin typeface="+mn-lt"/>
                <a:cs typeface="Times New Roman" pitchFamily="18" charset="0"/>
              </a:rPr>
              <a:t>expensive</a:t>
            </a:r>
          </a:p>
          <a:p>
            <a:pPr marL="742950" lvl="2" indent="-285750" algn="l">
              <a:buFont typeface="Wingdings" panose="05000000000000000000" pitchFamily="2" charset="2"/>
              <a:buChar char="v"/>
            </a:pPr>
            <a:r>
              <a:rPr lang="en-US" sz="1800" dirty="0" smtClean="0">
                <a:solidFill>
                  <a:schemeClr val="tx1"/>
                </a:solidFill>
                <a:latin typeface="+mn-lt"/>
                <a:cs typeface="Times New Roman" pitchFamily="18" charset="0"/>
              </a:rPr>
              <a:t>Labor 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Times New Roman" pitchFamily="18" charset="0"/>
              </a:rPr>
              <a:t>intensive </a:t>
            </a:r>
            <a:r>
              <a:rPr lang="en-US" sz="1800" dirty="0" smtClean="0">
                <a:solidFill>
                  <a:schemeClr val="tx1"/>
                </a:solidFill>
                <a:latin typeface="+mn-lt"/>
                <a:cs typeface="Times New Roman" pitchFamily="18" charset="0"/>
              </a:rPr>
              <a:t>task</a:t>
            </a:r>
          </a:p>
          <a:p>
            <a:pPr marL="742950" lvl="2" indent="-285750" algn="l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+mn-lt"/>
                <a:cs typeface="Times New Roman" pitchFamily="18" charset="0"/>
              </a:rPr>
              <a:t>Require recruiting, training, calibration and monitoring</a:t>
            </a:r>
          </a:p>
          <a:p>
            <a:pPr marL="742950" lvl="2" indent="-285750" algn="l">
              <a:buFont typeface="Wingdings" panose="05000000000000000000" pitchFamily="2" charset="2"/>
              <a:buChar char="v"/>
            </a:pPr>
            <a:r>
              <a:rPr lang="en-US" sz="1800" dirty="0" smtClean="0">
                <a:solidFill>
                  <a:schemeClr val="tx1"/>
                </a:solidFill>
                <a:latin typeface="+mn-lt"/>
                <a:cs typeface="Times New Roman" pitchFamily="18" charset="0"/>
              </a:rPr>
              <a:t>Subject to perception difference error, drift error, inconsistency error</a:t>
            </a:r>
            <a:endParaRPr lang="en-US" sz="1800" dirty="0">
              <a:solidFill>
                <a:schemeClr val="tx1"/>
              </a:solidFill>
              <a:latin typeface="+mn-lt"/>
              <a:cs typeface="Times New Roman" pitchFamily="18" charset="0"/>
            </a:endParaRPr>
          </a:p>
          <a:p>
            <a:pPr marL="742950" lvl="1" indent="-285750" algn="l">
              <a:buFont typeface="Wingdings" panose="05000000000000000000" pitchFamily="2" charset="2"/>
              <a:buChar char="v"/>
            </a:pPr>
            <a:r>
              <a:rPr lang="en-US" sz="1800" dirty="0" smtClean="0">
                <a:solidFill>
                  <a:schemeClr val="tx1"/>
                </a:solidFill>
                <a:latin typeface="+mn-lt"/>
                <a:cs typeface="Times New Roman" pitchFamily="18" charset="0"/>
              </a:rPr>
              <a:t>Some 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Times New Roman" pitchFamily="18" charset="0"/>
              </a:rPr>
              <a:t>rater consistently give high scores(leniency)</a:t>
            </a:r>
          </a:p>
          <a:p>
            <a:pPr marL="742950" lvl="1" indent="-285750" algn="l">
              <a:buFont typeface="Wingdings" panose="05000000000000000000" pitchFamily="2" charset="2"/>
              <a:buChar char="v"/>
            </a:pPr>
            <a:r>
              <a:rPr lang="en-US" sz="1800" dirty="0" smtClean="0">
                <a:solidFill>
                  <a:schemeClr val="tx1"/>
                </a:solidFill>
                <a:latin typeface="+mn-lt"/>
                <a:cs typeface="Times New Roman" pitchFamily="18" charset="0"/>
              </a:rPr>
              <a:t>Some rate </a:t>
            </a:r>
            <a:r>
              <a:rPr lang="en-US" sz="1800" dirty="0">
                <a:solidFill>
                  <a:schemeClr val="tx1"/>
                </a:solidFill>
                <a:latin typeface="+mn-lt"/>
                <a:cs typeface="Times New Roman" pitchFamily="18" charset="0"/>
              </a:rPr>
              <a:t>consistently give low scores (severity</a:t>
            </a:r>
            <a:r>
              <a:rPr lang="en-US" sz="1800" dirty="0" smtClean="0">
                <a:solidFill>
                  <a:schemeClr val="tx1"/>
                </a:solidFill>
                <a:latin typeface="+mn-lt"/>
                <a:cs typeface="Times New Roman" pitchFamily="18" charset="0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4724400"/>
            <a:ext cx="7478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cs typeface="Times New Roman" pitchFamily="18" charset="0"/>
              </a:rPr>
              <a:t>m</a:t>
            </a:r>
            <a:r>
              <a:rPr lang="en-US" dirty="0" smtClean="0">
                <a:cs typeface="Times New Roman" pitchFamily="18" charset="0"/>
              </a:rPr>
              <a:t>ore accurate and fastest </a:t>
            </a:r>
            <a:r>
              <a:rPr lang="en-US" dirty="0" smtClean="0">
                <a:solidFill>
                  <a:srgbClr val="0070C0"/>
                </a:solidFill>
                <a:cs typeface="Times New Roman" pitchFamily="18" charset="0"/>
              </a:rPr>
              <a:t>Automated Essay Scoring </a:t>
            </a:r>
            <a:r>
              <a:rPr lang="en-US" dirty="0" smtClean="0">
                <a:cs typeface="Times New Roman" pitchFamily="18" charset="0"/>
              </a:rPr>
              <a:t>System is essential </a:t>
            </a:r>
            <a:endParaRPr lang="en-US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13233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533400" y="1143000"/>
            <a:ext cx="2057400" cy="990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 smtClean="0"/>
              <a:t>Sarcasm?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3175000" y="2955925"/>
            <a:ext cx="2286000" cy="990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 smtClean="0"/>
              <a:t>Why Twitter?</a:t>
            </a:r>
            <a:endParaRPr lang="en-US" sz="2000" dirty="0"/>
          </a:p>
        </p:txBody>
      </p:sp>
      <p:sp>
        <p:nvSpPr>
          <p:cNvPr id="8" name="Oval 7"/>
          <p:cNvSpPr/>
          <p:nvPr/>
        </p:nvSpPr>
        <p:spPr>
          <a:xfrm>
            <a:off x="7010400" y="1124857"/>
            <a:ext cx="1371600" cy="6858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 smtClean="0"/>
              <a:t>285 M</a:t>
            </a:r>
            <a:endParaRPr lang="en-US" sz="2000" dirty="0"/>
          </a:p>
        </p:txBody>
      </p:sp>
      <p:pic>
        <p:nvPicPr>
          <p:cNvPr id="1026" name="Picture 2" descr="C:\Users\NOMAN\Dropbox\M.Sc\Data Mining\Paper Presentation\Resource\us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007" y="1949903"/>
            <a:ext cx="742950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NOMAN\Dropbox\M.Sc\Data Mining\Paper Presentation\Resource\twee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57362"/>
            <a:ext cx="304800" cy="42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H="1">
            <a:off x="6468836" y="2511198"/>
            <a:ext cx="609600" cy="2923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5486400" y="2955925"/>
            <a:ext cx="609600" cy="2923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Users\NOMAN\Dropbox\M.Sc\Data Mining\Paper Presentation\Resource\us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007" y="2999694"/>
            <a:ext cx="742950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NOMAN\Dropbox\M.Sc\Data Mining\Paper Presentation\Resource\twee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036" y="3248252"/>
            <a:ext cx="304800" cy="42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/>
          <p:cNvCxnSpPr/>
          <p:nvPr/>
        </p:nvCxnSpPr>
        <p:spPr>
          <a:xfrm flipH="1">
            <a:off x="6610350" y="3451225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5486400" y="3461544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2" descr="C:\Users\NOMAN\Dropbox\M.Sc\Data Mining\Paper Presentation\Resource\us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007" y="3946525"/>
            <a:ext cx="742950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3" descr="C:\Users\NOMAN\Dropbox\M.Sc\Data Mining\Paper Presentation\Resource\twee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036" y="3901508"/>
            <a:ext cx="304800" cy="42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/>
          <p:cNvCxnSpPr/>
          <p:nvPr/>
        </p:nvCxnSpPr>
        <p:spPr>
          <a:xfrm flipH="1" flipV="1">
            <a:off x="6553200" y="4114800"/>
            <a:ext cx="724807" cy="2507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5461000" y="3674836"/>
            <a:ext cx="635000" cy="2716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0400" y="1124857"/>
            <a:ext cx="0" cy="3675743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715000" y="1159782"/>
            <a:ext cx="0" cy="364081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715000" y="1143000"/>
            <a:ext cx="1295400" cy="6858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smtClean="0"/>
              <a:t>10</a:t>
            </a:r>
            <a:r>
              <a:rPr lang="en-US" sz="2800" b="1" baseline="30000" dirty="0" smtClean="0"/>
              <a:t>8</a:t>
            </a:r>
            <a:r>
              <a:rPr lang="en-US" sz="2800" b="1" dirty="0" smtClean="0"/>
              <a:t>+</a:t>
            </a:r>
            <a:endParaRPr lang="en-US" sz="2800" b="1" baseline="30000" dirty="0"/>
          </a:p>
        </p:txBody>
      </p:sp>
      <p:sp>
        <p:nvSpPr>
          <p:cNvPr id="33" name="TextBox 32"/>
          <p:cNvSpPr txBox="1"/>
          <p:nvPr/>
        </p:nvSpPr>
        <p:spPr>
          <a:xfrm>
            <a:off x="533400" y="4953000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Huge Data [Political, Popular Product, Movies]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Every tweet has a limitation of 140 characters.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2057400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“the use of </a:t>
            </a:r>
            <a:r>
              <a:rPr lang="en-US" i="1" dirty="0" smtClean="0"/>
              <a:t>irony to </a:t>
            </a:r>
            <a:r>
              <a:rPr lang="en-US" i="1" dirty="0"/>
              <a:t>make or convey contempt”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94245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30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Overview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6894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Motivation &amp; Related </a:t>
            </a:r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3400" y="1762127"/>
            <a:ext cx="8077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Sentiment analysis and openion mining rely on emotional words in text to detect it’s polarity (positively or negatively).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i="1" dirty="0" smtClean="0"/>
              <a:t>“All </a:t>
            </a:r>
            <a:r>
              <a:rPr lang="en-US" b="1" i="1" dirty="0"/>
              <a:t>your products are </a:t>
            </a:r>
            <a:r>
              <a:rPr lang="en-US" b="1" i="1" dirty="0" smtClean="0"/>
              <a:t>incredibly amazing!!!”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i="1" dirty="0" smtClean="0"/>
              <a:t>“</a:t>
            </a:r>
            <a:r>
              <a:rPr lang="en-US" b="1" i="1" dirty="0"/>
              <a:t>Did I say incredibly?? </a:t>
            </a:r>
            <a:r>
              <a:rPr lang="en-US" b="1" i="1" dirty="0" smtClean="0"/>
              <a:t>Well, it’s </a:t>
            </a:r>
            <a:r>
              <a:rPr lang="en-US" b="1" i="1" dirty="0"/>
              <a:t>true, nobody would believe that. They break the </a:t>
            </a:r>
            <a:r>
              <a:rPr lang="en-US" b="1" i="1" dirty="0" smtClean="0"/>
              <a:t>second day </a:t>
            </a:r>
            <a:r>
              <a:rPr lang="en-US" b="1" i="1" dirty="0"/>
              <a:t>you buy them </a:t>
            </a:r>
            <a:r>
              <a:rPr lang="en-US" b="1" i="1" dirty="0" smtClean="0"/>
              <a:t>-_-”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Indispensable to detect sarcastic message autometically?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1191736"/>
            <a:ext cx="1778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 smtClean="0">
                <a:latin typeface="Times New Roman" pitchFamily="18" charset="0"/>
                <a:cs typeface="Times New Roman" pitchFamily="18" charset="0"/>
              </a:rPr>
              <a:t>Motivation</a:t>
            </a:r>
            <a:endParaRPr lang="en-US" sz="2800" u="sng" dirty="0"/>
          </a:p>
        </p:txBody>
      </p:sp>
      <p:sp>
        <p:nvSpPr>
          <p:cNvPr id="24" name="TextBox 23"/>
          <p:cNvSpPr txBox="1"/>
          <p:nvPr/>
        </p:nvSpPr>
        <p:spPr>
          <a:xfrm>
            <a:off x="533400" y="4495800"/>
            <a:ext cx="8077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Filtering satirical news articles from true newswire documents [Features - profanity, slangs, semantic validity. Approach: SVM]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Sarcasm in amazon and Twitter [Approach: semi-supervised]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Sarcasm in Twitter by hashtags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Positive sentiment contrasts with a negative situation by boot-strapping algoritham using the seed word “love”.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Sarcasm on psychologycal effect and historical information.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3400" y="3925409"/>
            <a:ext cx="22894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 smtClean="0">
                <a:latin typeface="Times New Roman" pitchFamily="18" charset="0"/>
                <a:cs typeface="Times New Roman" pitchFamily="18" charset="0"/>
              </a:rPr>
              <a:t>Related Works</a:t>
            </a: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248965305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0"/>
                            </p:stCondLst>
                            <p:childTnLst>
                              <p:par>
                                <p:cTn id="6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Overview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>
          <a:xfrm>
            <a:off x="533400" y="1143000"/>
            <a:ext cx="8077200" cy="3886200"/>
          </a:xfrm>
        </p:spPr>
        <p:txBody>
          <a:bodyPr/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Motivation &amp; Related Work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Approach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Experimental Results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02278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667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3429000" y="1752600"/>
            <a:ext cx="2057400" cy="990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 smtClean="0"/>
              <a:t>Twitter</a:t>
            </a:r>
            <a:endParaRPr lang="en-US" sz="2000" dirty="0"/>
          </a:p>
        </p:txBody>
      </p:sp>
      <p:sp>
        <p:nvSpPr>
          <p:cNvPr id="8" name="Oval 7"/>
          <p:cNvSpPr/>
          <p:nvPr/>
        </p:nvSpPr>
        <p:spPr>
          <a:xfrm>
            <a:off x="1371600" y="3574143"/>
            <a:ext cx="2057400" cy="990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 smtClean="0"/>
              <a:t>Sarcastic</a:t>
            </a:r>
            <a:endParaRPr lang="en-US" sz="1600" dirty="0"/>
          </a:p>
        </p:txBody>
      </p:sp>
      <p:sp>
        <p:nvSpPr>
          <p:cNvPr id="9" name="Oval 8"/>
          <p:cNvSpPr/>
          <p:nvPr/>
        </p:nvSpPr>
        <p:spPr>
          <a:xfrm>
            <a:off x="5486400" y="3581400"/>
            <a:ext cx="2057400" cy="990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 smtClean="0"/>
              <a:t>Non-sarcastic</a:t>
            </a:r>
            <a:endParaRPr lang="en-US" sz="1600" dirty="0"/>
          </a:p>
        </p:txBody>
      </p:sp>
      <p:cxnSp>
        <p:nvCxnSpPr>
          <p:cNvPr id="5" name="Straight Arrow Connector 4"/>
          <p:cNvCxnSpPr>
            <a:stCxn id="7" idx="3"/>
          </p:cNvCxnSpPr>
          <p:nvPr/>
        </p:nvCxnSpPr>
        <p:spPr>
          <a:xfrm flipH="1">
            <a:off x="2819400" y="2598130"/>
            <a:ext cx="910899" cy="9760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178100" y="2598129"/>
            <a:ext cx="841700" cy="9832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00200" y="2797629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Twitter API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67400" y="278713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Twitter API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828800" y="4572000"/>
            <a:ext cx="114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/>
              <a:t>#sarcasm</a:t>
            </a:r>
            <a:endParaRPr lang="en-US" sz="1600" i="1" dirty="0"/>
          </a:p>
        </p:txBody>
      </p:sp>
      <p:sp>
        <p:nvSpPr>
          <p:cNvPr id="18" name="TextBox 17"/>
          <p:cNvSpPr txBox="1"/>
          <p:nvPr/>
        </p:nvSpPr>
        <p:spPr>
          <a:xfrm>
            <a:off x="5486400" y="4582886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/>
              <a:t>Exclude #sarcasm</a:t>
            </a:r>
            <a:endParaRPr lang="en-US" sz="1600" i="1" dirty="0"/>
          </a:p>
        </p:txBody>
      </p:sp>
      <p:sp>
        <p:nvSpPr>
          <p:cNvPr id="14" name="Flowchart: Magnetic Disk 13"/>
          <p:cNvSpPr/>
          <p:nvPr/>
        </p:nvSpPr>
        <p:spPr>
          <a:xfrm>
            <a:off x="3882699" y="5257800"/>
            <a:ext cx="841701" cy="1295400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Set</a:t>
            </a:r>
            <a:endParaRPr lang="en-US" dirty="0"/>
          </a:p>
        </p:txBody>
      </p:sp>
      <p:cxnSp>
        <p:nvCxnSpPr>
          <p:cNvPr id="17" name="Straight Arrow Connector 16"/>
          <p:cNvCxnSpPr>
            <a:stCxn id="8" idx="5"/>
          </p:cNvCxnSpPr>
          <p:nvPr/>
        </p:nvCxnSpPr>
        <p:spPr>
          <a:xfrm>
            <a:off x="3127701" y="4419673"/>
            <a:ext cx="910899" cy="8381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4512320" y="4333099"/>
            <a:ext cx="1126480" cy="9247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3400" y="1066800"/>
            <a:ext cx="3505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Data Collection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1570267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1" animBg="1"/>
      <p:bldP spid="9" grpId="1" animBg="1"/>
      <p:bldP spid="11" grpId="0"/>
      <p:bldP spid="16" grpId="0"/>
      <p:bldP spid="13" grpId="0"/>
      <p:bldP spid="18" grpId="0"/>
      <p:bldP spid="14" grpId="0" animBg="1"/>
      <p:bldP spid="1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Preliminaries 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4999" y="1066800"/>
            <a:ext cx="5398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/>
              <a:t>Singular Value Decomposition (SVD)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394" y="1547618"/>
            <a:ext cx="76957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An </a:t>
            </a:r>
            <a:r>
              <a:rPr lang="en-US" dirty="0"/>
              <a:t>Matrix Decomposition </a:t>
            </a:r>
            <a:r>
              <a:rPr lang="en-US" dirty="0" smtClean="0"/>
              <a:t>approach </a:t>
            </a:r>
            <a:r>
              <a:rPr lang="en-US" dirty="0"/>
              <a:t>used for </a:t>
            </a:r>
            <a:r>
              <a:rPr lang="en-US" dirty="0" smtClean="0"/>
              <a:t>dimensionality  </a:t>
            </a:r>
            <a:r>
              <a:rPr lang="en-US" dirty="0"/>
              <a:t>reduction</a:t>
            </a:r>
            <a:r>
              <a:rPr lang="en-US" dirty="0" smtClean="0"/>
              <a:t>;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98442" y="2650053"/>
            <a:ext cx="15240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98642" y="2797100"/>
            <a:ext cx="533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smtClean="0">
                <a:solidFill>
                  <a:schemeClr val="tx2"/>
                </a:solidFill>
              </a:rPr>
              <a:t>=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19007" y="2650053"/>
            <a:ext cx="1251501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019663" y="2650053"/>
            <a:ext cx="1306999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345057" y="2889434"/>
            <a:ext cx="4133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X</a:t>
            </a: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6438889" y="2889434"/>
            <a:ext cx="4878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X</a:t>
            </a:r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1104227" y="1986136"/>
            <a:ext cx="912429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endParaRPr lang="en-US" sz="2000" b="1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(m x n)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0350" y="1986136"/>
            <a:ext cx="111035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endParaRPr lang="en-US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(m x r)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7061829" y="2660748"/>
            <a:ext cx="1534851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216304" y="1986136"/>
                <a:ext cx="1110358" cy="6771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∑</m:t>
                      </m:r>
                    </m:oMath>
                  </m:oMathPara>
                </a14:m>
                <a:endParaRPr lang="en-US" b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(r x r)</a:t>
                </a:r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304" y="1986136"/>
                <a:ext cx="1110358" cy="677108"/>
              </a:xfrm>
              <a:prstGeom prst="rect">
                <a:avLst/>
              </a:prstGeom>
              <a:blipFill rotWithShape="0">
                <a:blip r:embed="rId3"/>
                <a:stretch>
                  <a:fillRect b="-1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275771" y="1991454"/>
                <a:ext cx="1110358" cy="6771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b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(r x n)</a:t>
                </a:r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771" y="1991454"/>
                <a:ext cx="1110358" cy="677108"/>
              </a:xfrm>
              <a:prstGeom prst="rect">
                <a:avLst/>
              </a:prstGeom>
              <a:blipFill rotWithShape="0">
                <a:blip r:embed="rId4"/>
                <a:stretch>
                  <a:fillRect b="-12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686297" y="5162997"/>
            <a:ext cx="7771406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100" dirty="0">
              <a:latin typeface="Verdana" panose="020B0604030504040204" pitchFamily="34" charset="0"/>
            </a:endParaRPr>
          </a:p>
          <a:p>
            <a:endParaRPr lang="en-US" dirty="0">
              <a:latin typeface="Verdana" panose="020B060403050404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19007" y="2650053"/>
            <a:ext cx="62575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019663" y="2650053"/>
                <a:ext cx="744291" cy="51857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∑</m:t>
                    </m:r>
                  </m:oMath>
                </a14:m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 x k</a:t>
                </a:r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663" y="2650053"/>
                <a:ext cx="744291" cy="51857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7075817" y="2673329"/>
                <a:ext cx="1513064" cy="4953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 x n </a:t>
                </a:r>
                <a:endParaRPr lang="en-US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817" y="2673329"/>
                <a:ext cx="1513064" cy="4953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686297" y="4468358"/>
            <a:ext cx="76998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To get better approximation of the original matrix </a:t>
            </a:r>
            <a:r>
              <a:rPr lang="en-US" b="1" dirty="0" smtClean="0">
                <a:ea typeface="Cambria Math" panose="02040503050406030204" pitchFamily="18" charset="0"/>
              </a:rPr>
              <a:t>M</a:t>
            </a:r>
            <a:r>
              <a:rPr lang="en-US" dirty="0" smtClean="0"/>
              <a:t> in lower dimension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remove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614573" y="3791551"/>
                <a:ext cx="3681842" cy="405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i="1" dirty="0"/>
                  <a:t>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M’ </a:t>
                </a:r>
                <a:r>
                  <a:rPr 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 x n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U </a:t>
                </a:r>
                <a:r>
                  <a:rPr 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 x k </a:t>
                </a: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∑</m:t>
                    </m:r>
                  </m:oMath>
                </a14:m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 x k  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 x n </a:t>
                </a:r>
                <a:endParaRPr lang="en-US" sz="20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573" y="3791551"/>
                <a:ext cx="3681842" cy="405624"/>
              </a:xfrm>
              <a:prstGeom prst="rect">
                <a:avLst/>
              </a:prstGeom>
              <a:blipFill rotWithShape="0">
                <a:blip r:embed="rId7"/>
                <a:stretch>
                  <a:fillRect l="-166" t="-10448" b="-22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2990026" y="3211681"/>
            <a:ext cx="7649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 </a:t>
            </a:r>
            <a:r>
              <a:rPr lang="en-US" baseline="-25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 x k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707634" y="5062969"/>
            <a:ext cx="2414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/>
              <a:t>1. (r </a:t>
            </a:r>
            <a:r>
              <a:rPr lang="pt-BR" dirty="0"/>
              <a:t>– k) columns in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707634" y="5410462"/>
                <a:ext cx="25266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2. (r </a:t>
                </a:r>
                <a:r>
                  <a:rPr lang="en-US" dirty="0"/>
                  <a:t>– k) elements in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∑</m:t>
                    </m:r>
                  </m:oMath>
                </a14:m>
                <a:endParaRPr lang="en-US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634" y="5410462"/>
                <a:ext cx="2526654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192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707634" y="5761936"/>
                <a:ext cx="2129044" cy="3742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3. (r </a:t>
                </a:r>
                <a:r>
                  <a:rPr lang="en-US" dirty="0"/>
                  <a:t>- k) rows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634" y="5761936"/>
                <a:ext cx="2129044" cy="374270"/>
              </a:xfrm>
              <a:prstGeom prst="rect">
                <a:avLst/>
              </a:prstGeom>
              <a:blipFill rotWithShape="0">
                <a:blip r:embed="rId9"/>
                <a:stretch>
                  <a:fillRect l="-2292" t="-6452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6647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9" grpId="0" animBg="1"/>
      <p:bldP spid="10" grpId="0"/>
      <p:bldP spid="14" grpId="0"/>
      <p:bldP spid="11" grpId="0"/>
      <p:bldP spid="12" grpId="0"/>
      <p:bldP spid="18" grpId="0" animBg="1"/>
      <p:bldP spid="19" grpId="0"/>
      <p:bldP spid="20" grpId="0"/>
      <p:bldP spid="16" grpId="0" animBg="1"/>
      <p:bldP spid="17" grpId="0" animBg="1"/>
      <p:bldP spid="21" grpId="0" animBg="1"/>
      <p:bldP spid="22" grpId="0"/>
      <p:bldP spid="24" grpId="0"/>
      <p:bldP spid="27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Preliminaries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066800" y="1611868"/>
                <a:ext cx="7162800" cy="39020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 smtClean="0">
                    <a:ea typeface="Calibri" panose="020F0502020204030204" pitchFamily="34" charset="0"/>
                    <a:cs typeface="Times New Roman" panose="02020603050405020304" pitchFamily="18" charset="0"/>
                  </a:rPr>
                  <a:t>Update SVD by adding columns</a:t>
                </a: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[M C] = [U J] </a:t>
                </a:r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∑</m:t>
                              </m:r>
                            </m:e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dirty="0" smtClean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 smtClean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 </a:t>
                </a:r>
                <a:r>
                  <a:rPr lang="en-US" dirty="0" smtClean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additional columns added to the original matrix M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</a:t>
                </a:r>
                <a:endParaRPr lang="en-US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en-US" dirty="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 smtClean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By Multiplying all medium results </a:t>
                </a: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dirty="0" smtClean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[</a:t>
                </a:r>
                <a:r>
                  <a:rPr lang="en-US" sz="2000" dirty="0" smtClean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 </a:t>
                </a:r>
                <a:r>
                  <a:rPr lang="en-US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C] = [U J]U’ .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∑′</m:t>
                    </m:r>
                  </m:oMath>
                </a14:m>
                <a:r>
                  <a:rPr lang="en-US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= U” .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∑′</m:t>
                    </m:r>
                  </m:oMath>
                </a14:m>
                <a:r>
                  <a:rPr lang="en-US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”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611868"/>
                <a:ext cx="7162800" cy="3902094"/>
              </a:xfrm>
              <a:prstGeom prst="rect">
                <a:avLst/>
              </a:prstGeom>
              <a:blipFill rotWithShape="0">
                <a:blip r:embed="rId3"/>
                <a:stretch>
                  <a:fillRect l="-681" t="-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685800" y="1002268"/>
            <a:ext cx="58593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Incremental Singular </a:t>
            </a:r>
            <a:r>
              <a:rPr lang="en-US" b="1" dirty="0"/>
              <a:t>Value Decomposition </a:t>
            </a:r>
            <a:r>
              <a:rPr lang="en-US" b="1" dirty="0" smtClean="0"/>
              <a:t>(ISVD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292411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Preliminaries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10668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Latent Semantic Analysis (LSA)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838200" y="1600200"/>
            <a:ext cx="746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Analysis Essays vectors in a reduced dimensionality semantic space.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Use Singular value decomposition (SVD)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Produce low rank approximation of the original dataset matrix</a:t>
            </a:r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3400" y="3733800"/>
            <a:ext cx="5240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Incremental Latent </a:t>
            </a:r>
            <a:r>
              <a:rPr lang="en-US" b="1" dirty="0"/>
              <a:t>Semantic </a:t>
            </a:r>
            <a:r>
              <a:rPr lang="en-US" b="1" dirty="0" smtClean="0"/>
              <a:t>Analysis (ILSA)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914400" y="4267200"/>
            <a:ext cx="754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Use Incremental Singular </a:t>
            </a:r>
            <a:r>
              <a:rPr lang="en-US" dirty="0"/>
              <a:t>value decomposition (SVD</a:t>
            </a:r>
            <a:r>
              <a:rPr lang="en-US" dirty="0" smtClean="0"/>
              <a:t>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Can process huge dataset of test essays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5800" y="5257800"/>
            <a:ext cx="7848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Effective to </a:t>
            </a:r>
            <a:r>
              <a:rPr lang="en-US" dirty="0" smtClean="0">
                <a:solidFill>
                  <a:srgbClr val="0070C0"/>
                </a:solidFill>
              </a:rPr>
              <a:t>reduce</a:t>
            </a:r>
            <a:r>
              <a:rPr lang="en-US" dirty="0" smtClean="0"/>
              <a:t> the usage of memory and time consuming  with a </a:t>
            </a:r>
            <a:r>
              <a:rPr lang="en-US" dirty="0">
                <a:solidFill>
                  <a:srgbClr val="0070C0"/>
                </a:solidFill>
              </a:rPr>
              <a:t>better</a:t>
            </a:r>
            <a:r>
              <a:rPr lang="en-US" dirty="0"/>
              <a:t> automatic scoring performance accuracy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2819400"/>
            <a:ext cx="5747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Can’t</a:t>
            </a:r>
            <a:r>
              <a:rPr lang="en-US" dirty="0" smtClean="0"/>
              <a:t> be used effectively when faced a massive 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10788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Proposed Method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4995" y="1066800"/>
            <a:ext cx="5289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Traditional LSA can be performed in 5 steps</a:t>
            </a:r>
            <a:endParaRPr lang="en-US" b="1" dirty="0"/>
          </a:p>
        </p:txBody>
      </p:sp>
      <p:sp>
        <p:nvSpPr>
          <p:cNvPr id="5" name="Rounded Rectangle 4"/>
          <p:cNvSpPr/>
          <p:nvPr/>
        </p:nvSpPr>
        <p:spPr>
          <a:xfrm>
            <a:off x="381000" y="2092979"/>
            <a:ext cx="1676400" cy="685800"/>
          </a:xfrm>
          <a:prstGeom prst="roundRect">
            <a:avLst/>
          </a:prstGeom>
        </p:spPr>
        <p:style>
          <a:lnRef idx="1">
            <a:schemeClr val="dk1"/>
          </a:lnRef>
          <a:fillRef idx="1002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Text Preprocessing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2198735" y="2092979"/>
            <a:ext cx="1395893" cy="685800"/>
          </a:xfrm>
          <a:prstGeom prst="roundRect">
            <a:avLst/>
          </a:prstGeom>
        </p:spPr>
        <p:style>
          <a:lnRef idx="1">
            <a:schemeClr val="dk1"/>
          </a:lnRef>
          <a:fillRef idx="1002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weighting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3735963" y="2105367"/>
            <a:ext cx="1464365" cy="685800"/>
          </a:xfrm>
          <a:prstGeom prst="roundRect">
            <a:avLst/>
          </a:prstGeom>
        </p:spPr>
        <p:style>
          <a:lnRef idx="1">
            <a:schemeClr val="dk1"/>
          </a:lnRef>
          <a:fillRef idx="1002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Calculating SVD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5341663" y="2105367"/>
            <a:ext cx="1669774" cy="685800"/>
          </a:xfrm>
          <a:prstGeom prst="roundRect">
            <a:avLst/>
          </a:prstGeom>
        </p:spPr>
        <p:style>
          <a:lnRef idx="1">
            <a:schemeClr val="dk1"/>
          </a:lnRef>
          <a:fillRef idx="1002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Correlation Measurement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7152772" y="2105367"/>
            <a:ext cx="1669774" cy="685800"/>
          </a:xfrm>
          <a:prstGeom prst="roundRect">
            <a:avLst/>
          </a:prstGeom>
        </p:spPr>
        <p:style>
          <a:lnRef idx="1">
            <a:schemeClr val="dk1"/>
          </a:lnRef>
          <a:fillRef idx="1002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Correlation</a:t>
            </a:r>
          </a:p>
          <a:p>
            <a:pPr algn="ctr"/>
            <a:r>
              <a:rPr lang="en-US" dirty="0" smtClean="0"/>
              <a:t>Method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69159" y="159645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1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746640" y="162958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2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318104" y="162958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3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26509" y="159976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4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837618" y="162958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5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33400" y="3275736"/>
            <a:ext cx="7628114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But the </a:t>
            </a:r>
            <a:r>
              <a:rPr lang="en-US" dirty="0" smtClean="0">
                <a:solidFill>
                  <a:schemeClr val="tx2"/>
                </a:solidFill>
              </a:rPr>
              <a:t>problem in Traditional LSA </a:t>
            </a:r>
            <a:r>
              <a:rPr lang="en-US" dirty="0" smtClean="0"/>
              <a:t>is </a:t>
            </a:r>
          </a:p>
          <a:p>
            <a:r>
              <a:rPr lang="en-US" dirty="0" smtClean="0"/>
              <a:t>For massive dataset calculating SVD becomes an impossible task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This paper propose  an </a:t>
            </a:r>
            <a:r>
              <a:rPr lang="en-US" dirty="0" smtClean="0">
                <a:solidFill>
                  <a:schemeClr val="tx2"/>
                </a:solidFill>
              </a:rPr>
              <a:t>Incremental LSA technique </a:t>
            </a:r>
            <a:r>
              <a:rPr lang="en-US" dirty="0" smtClean="0"/>
              <a:t>to solve this problem.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7131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9" grpId="0" animBg="1"/>
      <p:bldP spid="20" grpId="0" animBg="1"/>
      <p:bldP spid="22" grpId="0" animBg="1"/>
      <p:bldP spid="23" grpId="0" animBg="1"/>
      <p:bldP spid="6" grpId="0"/>
      <p:bldP spid="7" grpId="0"/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cs typeface="Times New Roman" pitchFamily="18" charset="0"/>
              </a:rPr>
              <a:t>Flow Chart of the Proposed Method</a:t>
            </a:r>
            <a:endParaRPr lang="en-US" sz="3200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1746" y="1419458"/>
            <a:ext cx="2109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Text preprocessing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9351" y="2861582"/>
            <a:ext cx="1219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cs typeface="Times New Roman" panose="02020603050405020304" pitchFamily="18" charset="0"/>
              </a:rPr>
              <a:t>weighting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869635" y="2728232"/>
            <a:ext cx="3451010" cy="636032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1002">
            <a:schemeClr val="lt1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cs typeface="Times New Roman" panose="02020603050405020304" pitchFamily="18" charset="0"/>
              </a:rPr>
              <a:t>Calculating TF-IDF matrix 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11152" y="4258834"/>
            <a:ext cx="19094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cs typeface="Times New Roman" panose="02020603050405020304" pitchFamily="18" charset="0"/>
              </a:rPr>
              <a:t>Incremental LSA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293165" y="4125484"/>
            <a:ext cx="1725283" cy="636032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1002">
            <a:schemeClr val="lt1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cs typeface="Times New Roman" panose="02020603050405020304" pitchFamily="18" charset="0"/>
              </a:rPr>
              <a:t>Incremental SVD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97664" y="4125484"/>
            <a:ext cx="1725283" cy="636032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1002">
            <a:schemeClr val="lt1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cs typeface="Times New Roman" panose="02020603050405020304" pitchFamily="18" charset="0"/>
              </a:rPr>
              <a:t>re-projecting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63035" y="5600282"/>
            <a:ext cx="23182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cs typeface="Times New Roman" panose="02020603050405020304" pitchFamily="18" charset="0"/>
              </a:rPr>
              <a:t>Scoring performance</a:t>
            </a:r>
          </a:p>
          <a:p>
            <a:pPr algn="ctr"/>
            <a:r>
              <a:rPr lang="en-US" dirty="0" smtClean="0">
                <a:cs typeface="Times New Roman" panose="02020603050405020304" pitchFamily="18" charset="0"/>
              </a:rPr>
              <a:t>measurement 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899849" y="5632263"/>
            <a:ext cx="3451010" cy="636032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1002">
            <a:schemeClr val="lt1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cs typeface="Times New Roman" panose="02020603050405020304" pitchFamily="18" charset="0"/>
              </a:rPr>
              <a:t>Support Vector Machine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5738" y="1134321"/>
            <a:ext cx="5071506" cy="98721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263348" y="1293520"/>
            <a:ext cx="1725283" cy="636032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1002">
            <a:schemeClr val="lt1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cs typeface="Times New Roman" panose="02020603050405020304" pitchFamily="18" charset="0"/>
              </a:rPr>
              <a:t>Segmenting 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267847" y="1323895"/>
            <a:ext cx="1725283" cy="636032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1002">
            <a:schemeClr val="lt1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cs typeface="Times New Roman" panose="02020603050405020304" pitchFamily="18" charset="0"/>
              </a:rPr>
              <a:t>Producing t-d matrix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9" name="Right Arrow 38"/>
          <p:cNvSpPr/>
          <p:nvPr/>
        </p:nvSpPr>
        <p:spPr>
          <a:xfrm>
            <a:off x="5276038" y="1430255"/>
            <a:ext cx="704402" cy="4233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105738" y="4004657"/>
            <a:ext cx="5071506" cy="98721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41" name="Right Arrow 40"/>
          <p:cNvSpPr/>
          <p:nvPr/>
        </p:nvSpPr>
        <p:spPr>
          <a:xfrm rot="5400000">
            <a:off x="5383829" y="2258542"/>
            <a:ext cx="379914" cy="2824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42" name="Right Arrow 41"/>
          <p:cNvSpPr/>
          <p:nvPr/>
        </p:nvSpPr>
        <p:spPr>
          <a:xfrm rot="5400000">
            <a:off x="5398631" y="3536722"/>
            <a:ext cx="350309" cy="2824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43" name="Right Arrow 42"/>
          <p:cNvSpPr/>
          <p:nvPr/>
        </p:nvSpPr>
        <p:spPr>
          <a:xfrm rot="5400000">
            <a:off x="5402304" y="5173704"/>
            <a:ext cx="342962" cy="2824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44" name="Right Arrow 43"/>
          <p:cNvSpPr/>
          <p:nvPr/>
        </p:nvSpPr>
        <p:spPr>
          <a:xfrm>
            <a:off x="5305855" y="4231844"/>
            <a:ext cx="704402" cy="4233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48858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250"/>
                            </p:stCondLst>
                            <p:childTnLst>
                              <p:par>
                                <p:cTn id="5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250"/>
                            </p:stCondLst>
                            <p:childTnLst>
                              <p:par>
                                <p:cTn id="8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/>
      <p:bldP spid="24" grpId="0" animBg="1"/>
      <p:bldP spid="25" grpId="0"/>
      <p:bldP spid="26" grpId="0" animBg="1"/>
      <p:bldP spid="28" grpId="0" animBg="1"/>
      <p:bldP spid="32" grpId="0"/>
      <p:bldP spid="33" grpId="0" animBg="1"/>
      <p:bldP spid="12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Method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974467"/>
            <a:ext cx="5398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Text Preprocessing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1104899" y="1360057"/>
            <a:ext cx="510992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All the essays are segmented into words </a:t>
            </a:r>
          </a:p>
          <a:p>
            <a:pPr marL="342900" indent="-342900">
              <a:buAutoNum type="arabicPeriod"/>
            </a:pPr>
            <a:r>
              <a:rPr lang="en-US" dirty="0" smtClean="0"/>
              <a:t>Stopwords are eliminated. </a:t>
            </a:r>
          </a:p>
          <a:p>
            <a:pPr marL="342900" indent="-342900">
              <a:buAutoNum type="arabicPeriod"/>
            </a:pPr>
            <a:r>
              <a:rPr lang="en-US" dirty="0" smtClean="0"/>
              <a:t>Essay vector form the original dataset matrix</a:t>
            </a:r>
            <a:endParaRPr lang="en-US" sz="3200" dirty="0" smtClean="0">
              <a:solidFill>
                <a:schemeClr val="tx2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99244" y="2746228"/>
            <a:ext cx="0" cy="129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599244" y="27462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599244" y="40416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218244" y="2746228"/>
            <a:ext cx="0" cy="129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218244" y="27462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218244" y="40416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132644" y="2746228"/>
            <a:ext cx="0" cy="129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904044" y="27462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904044" y="40416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325406" y="2746228"/>
            <a:ext cx="0" cy="129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325406" y="27462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325406" y="40416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858806" y="2746228"/>
            <a:ext cx="0" cy="129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3630206" y="27462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630206" y="40416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047044" y="2746228"/>
            <a:ext cx="0" cy="129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047044" y="27462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047044" y="40416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580444" y="2746228"/>
            <a:ext cx="0" cy="129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351844" y="27462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351844" y="40416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180644" y="2746228"/>
            <a:ext cx="0" cy="129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180644" y="27462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180644" y="40416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6714044" y="2746228"/>
            <a:ext cx="0" cy="129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6485444" y="27462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6485444" y="40416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7133144" y="2746228"/>
            <a:ext cx="0" cy="129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6904544" y="27462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6904544" y="404162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58407" y="2935359"/>
            <a:ext cx="10264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smtClean="0">
                <a:solidFill>
                  <a:schemeClr val="tx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Equal 14"/>
          <p:cNvSpPr/>
          <p:nvPr/>
        </p:nvSpPr>
        <p:spPr>
          <a:xfrm>
            <a:off x="1456244" y="3098775"/>
            <a:ext cx="457200" cy="381054"/>
          </a:xfrm>
          <a:prstGeom prst="mathEqual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876800" y="2881444"/>
            <a:ext cx="118173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chemeClr val="tx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 … </a:t>
            </a:r>
            <a:endParaRPr lang="en-US" sz="4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2896622" y="4054029"/>
            <a:ext cx="7422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246943" y="4397440"/>
            <a:ext cx="14823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essay vector 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7232107" y="2881444"/>
            <a:ext cx="3201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594304" y="2696778"/>
            <a:ext cx="8299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words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71966" y="5106189"/>
            <a:ext cx="63223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 t-d (term document) matrix is generated. 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5702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750"/>
                            </p:stCondLst>
                            <p:childTnLst>
                              <p:par>
                                <p:cTn id="1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750"/>
                            </p:stCondLst>
                            <p:childTnLst>
                              <p:par>
                                <p:cTn id="1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250"/>
                            </p:stCondLst>
                            <p:childTnLst>
                              <p:par>
                                <p:cTn id="1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250"/>
                            </p:stCondLst>
                            <p:childTnLst>
                              <p:par>
                                <p:cTn id="17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  <p:bldP spid="55" grpId="0"/>
      <p:bldP spid="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Method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935681"/>
            <a:ext cx="5398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Weighting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685800" y="1379448"/>
            <a:ext cx="6324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Every element in the t-d matrix are weighted as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971800" y="1823215"/>
            <a:ext cx="2438488" cy="4282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</a:t>
            </a:r>
            <a:r>
              <a:rPr lang="en-US" sz="22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i,j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 TF</a:t>
            </a:r>
            <a:r>
              <a:rPr lang="en-US" sz="22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i,j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   IDF</a:t>
            </a:r>
            <a:r>
              <a:rPr lang="en-US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i,j</a:t>
            </a:r>
            <a:endParaRPr lang="en-US" sz="22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85800" y="2892718"/>
                <a:ext cx="4168642" cy="6425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solidFill>
                      <a:schemeClr val="tx2"/>
                    </a:solidFill>
                  </a:rPr>
                  <a:t>Term Frequency,  </a:t>
                </a:r>
                <a:r>
                  <a:rPr lang="en-US" sz="2200" dirty="0" smtClean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TF</a:t>
                </a:r>
                <a:r>
                  <a:rPr lang="en-US" sz="2200" baseline="-25000" dirty="0" smtClean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dirty="0" smtClean="0">
                    <a:solidFill>
                      <a:schemeClr val="tx2"/>
                    </a:solidFill>
                  </a:rPr>
                  <a:t>  </a:t>
                </a:r>
                <a:r>
                  <a:rPr lang="en-US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num</m:t>
                        </m:r>
                        <m:r>
                          <m:rPr>
                            <m:nor/>
                          </m:rPr>
                          <a:rPr lang="en-US" sz="22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sz="22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2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US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num</m:t>
                            </m:r>
                            <m:r>
                              <m:rPr>
                                <m:nor/>
                              </m:rPr>
                              <a:rPr lang="en-US" sz="2200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  <m:r>
                              <m:rPr>
                                <m:nor/>
                              </m:rPr>
                              <a:rPr lang="en-US" sz="2200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2200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j</m:t>
                            </m:r>
                          </m:e>
                        </m:nary>
                      </m:den>
                    </m:f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892718"/>
                <a:ext cx="4168642" cy="642548"/>
              </a:xfrm>
              <a:prstGeom prst="rect">
                <a:avLst/>
              </a:prstGeom>
              <a:blipFill rotWithShape="0">
                <a:blip r:embed="rId3"/>
                <a:stretch>
                  <a:fillRect l="-1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85800" y="4522046"/>
                <a:ext cx="6705600" cy="5765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>
                    <a:solidFill>
                      <a:schemeClr val="tx2"/>
                    </a:solidFill>
                  </a:rPr>
                  <a:t>Inverse Document Frequency</a:t>
                </a:r>
                <a:r>
                  <a:rPr lang="en-US" dirty="0">
                    <a:solidFill>
                      <a:schemeClr val="tx2"/>
                    </a:solidFill>
                  </a:rPr>
                  <a:t>,  </a:t>
                </a:r>
                <a:r>
                  <a:rPr lang="en-US" sz="2200" dirty="0" smtClean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IDF</a:t>
                </a:r>
                <a:r>
                  <a:rPr lang="en-US" sz="2200" baseline="-25000" dirty="0" smtClean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sz="2200" dirty="0" smtClean="0">
                    <a:solidFill>
                      <a:schemeClr val="tx2"/>
                    </a:solidFill>
                  </a:rPr>
                  <a:t> 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2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n-US" sz="2200" b="0" i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+</m:t>
                            </m:r>
                            <m:r>
                              <m:rPr>
                                <m:nor/>
                              </m:rPr>
                              <a:rPr lang="en-US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nor/>
                              </m:rPr>
                              <a:rPr lang="en-US" sz="22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DF</m:t>
                            </m:r>
                            <m:r>
                              <m:rPr>
                                <m:nor/>
                              </m:rPr>
                              <a:rPr lang="en-US" sz="2200" baseline="-25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sz="22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den>
                        </m:f>
                      </m:e>
                    </m:func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522046"/>
                <a:ext cx="6705600" cy="576504"/>
              </a:xfrm>
              <a:prstGeom prst="rect">
                <a:avLst/>
              </a:prstGeom>
              <a:blipFill rotWithShape="0">
                <a:blip r:embed="rId4"/>
                <a:stretch>
                  <a:fillRect l="-818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85800" y="5185660"/>
                <a:ext cx="60960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/>
                  <a:t>n    = amount of the essay vector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DF</m:t>
                    </m:r>
                    <m:r>
                      <m:rPr>
                        <m:nor/>
                      </m:rPr>
                      <a: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</m:oMath>
                </a14:m>
                <a:r>
                  <a:rPr lang="en-US" dirty="0" smtClean="0"/>
                  <a:t> = number of the essays which contains the </a:t>
                </a:r>
                <a:r>
                  <a:rPr lang="en-US" dirty="0" err="1"/>
                  <a:t>i</a:t>
                </a:r>
                <a:r>
                  <a:rPr lang="en-US" baseline="30000" dirty="0" err="1"/>
                  <a:t>th</a:t>
                </a:r>
                <a:r>
                  <a:rPr lang="en-US" dirty="0"/>
                  <a:t> </a:t>
                </a:r>
                <a:r>
                  <a:rPr lang="en-US" dirty="0" smtClean="0"/>
                  <a:t> word</a:t>
                </a:r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185660"/>
                <a:ext cx="6096000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900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85800" y="3744658"/>
                <a:ext cx="55667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num</m:t>
                    </m:r>
                    <m:r>
                      <m:rPr>
                        <m:nor/>
                      </m:rPr>
                      <a: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en-US" dirty="0" smtClean="0"/>
                  <a:t> = number of the 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baseline="30000" dirty="0" err="1"/>
                  <a:t>th</a:t>
                </a:r>
                <a:r>
                  <a:rPr lang="en-US" dirty="0"/>
                  <a:t> </a:t>
                </a:r>
                <a:r>
                  <a:rPr lang="en-US" dirty="0" smtClean="0"/>
                  <a:t>word appeared in </a:t>
                </a:r>
                <a:r>
                  <a:rPr lang="en-US" dirty="0"/>
                  <a:t> </a:t>
                </a:r>
                <a:r>
                  <a:rPr lang="en-US" dirty="0" err="1" smtClean="0"/>
                  <a:t>j</a:t>
                </a:r>
                <a:r>
                  <a:rPr lang="en-US" baseline="30000" dirty="0" err="1" smtClean="0"/>
                  <a:t>th</a:t>
                </a:r>
                <a:r>
                  <a:rPr lang="en-US" dirty="0" smtClean="0"/>
                  <a:t> essay</a:t>
                </a:r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744658"/>
                <a:ext cx="5566780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192125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Method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970475"/>
            <a:ext cx="5398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Incremental LSA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609600" y="1371600"/>
            <a:ext cx="320312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Consists of two parts</a:t>
            </a:r>
          </a:p>
          <a:p>
            <a:pPr marL="1257300" lvl="2" indent="-342900">
              <a:buAutoNum type="arabicPeriod"/>
            </a:pPr>
            <a:r>
              <a:rPr lang="en-US" dirty="0" smtClean="0"/>
              <a:t>Incremental SVD</a:t>
            </a:r>
          </a:p>
          <a:p>
            <a:pPr marL="1257300" lvl="2" indent="-342900">
              <a:buAutoNum type="arabicPeriod"/>
            </a:pPr>
            <a:r>
              <a:rPr lang="en-US" dirty="0" smtClean="0"/>
              <a:t>Re-projecting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33400" y="2590800"/>
            <a:ext cx="1933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Incremental SVD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419600"/>
            <a:ext cx="674575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Apply conventional SVD to first n’ essay vector to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Obtain mediate result of matrix decomposition.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Update the mediate result by adding N columns (batch size).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The process is repeated until all essay vectors are added.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28600" y="2971800"/>
            <a:ext cx="5562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57300" lvl="2" indent="-342900">
              <a:buAutoNum type="arabicPeriod"/>
            </a:pPr>
            <a:r>
              <a:rPr lang="en-US" dirty="0" smtClean="0"/>
              <a:t>Fastest Algorithm</a:t>
            </a:r>
          </a:p>
          <a:p>
            <a:pPr marL="1257300" lvl="2" indent="-342900">
              <a:buAutoNum type="arabicPeriod"/>
            </a:pPr>
            <a:r>
              <a:rPr lang="en-US" dirty="0" smtClean="0"/>
              <a:t>Very much useful for massive Dataset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09600" y="3962400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Algorithm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3356835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1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Method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970475"/>
            <a:ext cx="5398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Incremental LSA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685800" y="1371600"/>
            <a:ext cx="1556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Re-projecting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4114800"/>
            <a:ext cx="3363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Re-projecting Incremental SVD</a:t>
            </a:r>
            <a:endParaRPr 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362200" y="1752600"/>
                <a:ext cx="3681842" cy="405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M’ </a:t>
                </a:r>
                <a:r>
                  <a:rPr 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 x n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U </a:t>
                </a:r>
                <a:r>
                  <a:rPr 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 x k </a:t>
                </a: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∑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 x k  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 x n </a:t>
                </a:r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752600"/>
                <a:ext cx="3681842" cy="405624"/>
              </a:xfrm>
              <a:prstGeom prst="rect">
                <a:avLst/>
              </a:prstGeom>
              <a:blipFill rotWithShape="0">
                <a:blip r:embed="rId3"/>
                <a:stretch>
                  <a:fillRect l="-332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685800" y="2286000"/>
            <a:ext cx="770076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k = number of the semantics remaining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constructs </a:t>
            </a:r>
            <a:r>
              <a:rPr lang="en-US" dirty="0"/>
              <a:t>semantic space for the dataset.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Any essay vector can be re-projected to the semantic space based on t-f and word corpus d</a:t>
            </a:r>
            <a:r>
              <a:rPr lang="en-US" baseline="-25000" dirty="0" smtClean="0"/>
              <a:t>j</a:t>
            </a:r>
            <a:r>
              <a:rPr lang="en-US" dirty="0" smtClean="0"/>
              <a:t> .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352800" y="4495800"/>
                <a:ext cx="2590800" cy="4392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2000" b="0" i="1" baseline="-25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acc>
                    <m:r>
                      <a:rPr lang="en-US" sz="2000" b="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∑</m:t>
                    </m:r>
                  </m:oMath>
                </a14:m>
                <a:r>
                  <a:rPr lang="en-US" sz="20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-1 </a:t>
                </a:r>
                <a:r>
                  <a:rPr lang="en-US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U</a:t>
                </a:r>
                <a:r>
                  <a:rPr lang="en-US" sz="20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sz="2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d</a:t>
                </a:r>
                <a:r>
                  <a:rPr lang="en-US" sz="2000" baseline="-25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j</a:t>
                </a:r>
                <a:endParaRPr lang="en-US" sz="20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4495800"/>
                <a:ext cx="2590800" cy="439287"/>
              </a:xfrm>
              <a:prstGeom prst="rect">
                <a:avLst/>
              </a:prstGeom>
              <a:blipFill rotWithShape="0">
                <a:blip r:embed="rId4"/>
                <a:stretch>
                  <a:fillRect t="-8333" b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838200" y="5105400"/>
            <a:ext cx="5567806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</a:t>
            </a:r>
            <a:r>
              <a:rPr lang="en-US" baseline="-250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j 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 is the essay vector based on the same word corpus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45659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Approach 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990600"/>
            <a:ext cx="5398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Scoring Performance Measurement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267200" y="2514600"/>
                <a:ext cx="2902333" cy="9700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,ℵ</m:t>
                              </m:r>
                            </m:lim>
                          </m:limLow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</m:fName>
                        <m:e>
                          <m:f>
                            <m:f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func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nary>
                        <m:naryPr>
                          <m:chr m:val="∑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sz="2000"/>
                            <m:t>ξ</m:t>
                          </m:r>
                          <m:r>
                            <m:rPr>
                              <m:nor/>
                            </m:rPr>
                            <a:rPr lang="en-US" sz="2000" baseline="-25000"/>
                            <m:t>i</m:t>
                          </m:r>
                          <m:r>
                            <m:rPr>
                              <m:nor/>
                            </m:rPr>
                            <a:rPr lang="en-US" sz="2000"/>
                            <m:t> </m:t>
                          </m:r>
                        </m:e>
                      </m:nary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2514600"/>
                <a:ext cx="2902333" cy="97000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419600" y="3886200"/>
                <a:ext cx="3124200" cy="859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en-US" sz="2000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(x</a:t>
                </a:r>
                <a:r>
                  <a:rPr 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 + b) ≥ 1 – ξ</a:t>
                </a:r>
                <a:r>
                  <a:rPr lang="en-US" sz="2000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   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ξ</a:t>
                </a:r>
                <a:r>
                  <a:rPr lang="en-US" sz="2000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≥ 0, </a:t>
                </a:r>
                <a:r>
                  <a:rPr lang="en-US" sz="2000" dirty="0" err="1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1, …………, l</a:t>
                </a:r>
                <a:endParaRPr lang="en-US" sz="20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3886200"/>
                <a:ext cx="3124200" cy="859466"/>
              </a:xfrm>
              <a:prstGeom prst="rect">
                <a:avLst/>
              </a:prstGeom>
              <a:blipFill rotWithShape="0">
                <a:blip r:embed="rId4"/>
                <a:stretch>
                  <a:fillRect l="-1949" t="-4286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914400" y="1524000"/>
            <a:ext cx="7543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Support Vector Machine is used to score the essays.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Word corpus generated from the training set can be used to produce t-d matrix for the test set.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14400" y="2895600"/>
            <a:ext cx="30043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Optimum solution for SVM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590800" y="4038600"/>
            <a:ext cx="12818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Constrains: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8200" y="5029200"/>
            <a:ext cx="32666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  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= Human scoring</a:t>
            </a:r>
          </a:p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   = Regularization parameter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33757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6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Experimental Results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4999" y="1066800"/>
            <a:ext cx="5398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Environment &amp; Dataset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533400" y="1600200"/>
            <a:ext cx="1619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u="sng" dirty="0" smtClean="0"/>
              <a:t>Linux Machine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981200"/>
            <a:ext cx="33217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2.0 GHz Intel Xeno E5-2620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96G 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895600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u="sng" dirty="0" smtClean="0"/>
              <a:t>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3276600"/>
            <a:ext cx="788619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15,776 test essays as training set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1000 test essays as test set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Teacher score (form 0 to 6 at intervals of 0.5) is added to the essay vector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SVM algorithm for classifying test 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4648200"/>
            <a:ext cx="6622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u="sng" dirty="0" smtClean="0"/>
              <a:t>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9200" y="4953000"/>
            <a:ext cx="656352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WFST tool for segmenting essays</a:t>
            </a:r>
          </a:p>
          <a:p>
            <a:pPr marL="342900" indent="-342900">
              <a:buAutoNum type="arabicPeriod"/>
            </a:pPr>
            <a:r>
              <a:rPr lang="en-US" dirty="0" smtClean="0"/>
              <a:t>MATLAB and C language to compute performance metrics</a:t>
            </a:r>
          </a:p>
          <a:p>
            <a:pPr marL="342900" indent="-342900">
              <a:buAutoNum type="arabicPeriod"/>
            </a:pPr>
            <a:r>
              <a:rPr lang="en-US" dirty="0" smtClean="0"/>
              <a:t>LIBSVM for training</a:t>
            </a:r>
          </a:p>
        </p:txBody>
      </p:sp>
    </p:spTree>
    <p:extLst>
      <p:ext uri="{BB962C8B-B14F-4D97-AF65-F5344CB8AC3E}">
        <p14:creationId xmlns:p14="http://schemas.microsoft.com/office/powerpoint/2010/main" val="377658539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Experimental Results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5178" y="990600"/>
            <a:ext cx="2279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Computing Time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590800" y="1371600"/>
            <a:ext cx="7696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for conventional SVD to handle very large data set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941914"/>
              </p:ext>
            </p:extLst>
          </p:nvPr>
        </p:nvGraphicFramePr>
        <p:xfrm>
          <a:off x="1447800" y="3428997"/>
          <a:ext cx="6553199" cy="3228467"/>
        </p:xfrm>
        <a:graphic>
          <a:graphicData uri="http://schemas.openxmlformats.org/drawingml/2006/table">
            <a:tbl>
              <a:tblPr firstRow="1" firstCol="1" bandRow="1"/>
              <a:tblGrid>
                <a:gridCol w="2153537"/>
                <a:gridCol w="2199831"/>
                <a:gridCol w="2199831"/>
              </a:tblGrid>
              <a:tr h="27016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Training set size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Time(s)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01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Incremental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Conventional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31552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141.661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1111.324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47328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231.759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1692.691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63104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339.327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2617.137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78880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460.742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3858.184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94656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592.244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5466.019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110432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680.372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7929.217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126208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824.693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141984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978.254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157760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1145.381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295400" y="2209800"/>
            <a:ext cx="26853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Less </a:t>
            </a:r>
            <a:r>
              <a:rPr lang="en-US" dirty="0"/>
              <a:t>time </a:t>
            </a:r>
            <a:r>
              <a:rPr lang="en-US" dirty="0" smtClean="0"/>
              <a:t>consuming</a:t>
            </a:r>
          </a:p>
          <a:p>
            <a:pPr marL="342900" indent="-342900">
              <a:buFontTx/>
              <a:buAutoNum type="arabicPeriod"/>
            </a:pPr>
            <a:r>
              <a:rPr lang="en-US" dirty="0" smtClean="0"/>
              <a:t>Performs better 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295400" y="2819400"/>
            <a:ext cx="2393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3.   Far </a:t>
            </a:r>
            <a:r>
              <a:rPr lang="en-US" dirty="0"/>
              <a:t>more efficient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5200" y="2819400"/>
            <a:ext cx="4110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when comparing with traditional SVD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914400" y="1371600"/>
            <a:ext cx="18341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Impossible task 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33400" y="1828800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Incremental SVD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953708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0">
              <a:schemeClr val="bg1">
                <a:tint val="80000"/>
                <a:satMod val="250000"/>
              </a:schemeClr>
            </a:gs>
            <a:gs pos="76000">
              <a:schemeClr val="bg1">
                <a:tint val="90000"/>
                <a:shade val="90000"/>
                <a:satMod val="200000"/>
              </a:schemeClr>
            </a:gs>
            <a:gs pos="92000">
              <a:schemeClr val="bg1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Experimental Results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5178" y="990600"/>
            <a:ext cx="2279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Computing Time</a:t>
            </a:r>
            <a:endParaRPr lang="en-US" dirty="0"/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2041316076"/>
              </p:ext>
            </p:extLst>
          </p:nvPr>
        </p:nvGraphicFramePr>
        <p:xfrm>
          <a:off x="1333500" y="1607066"/>
          <a:ext cx="6477000" cy="416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1828800" y="5943600"/>
            <a:ext cx="5871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Comparison of conventional SVD and Incremental SVD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6557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Experimental Results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4999" y="1066800"/>
            <a:ext cx="5398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Relative Update Time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05000" y="2133600"/>
                <a:ext cx="4990084" cy="5282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Relative update times  </a:t>
                </a:r>
                <a:r>
                  <a:rPr lang="en-US" dirty="0" smtClean="0">
                    <a:latin typeface="Calibri" panose="020F0502020204030204" pitchFamily="34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𝑜𝑝𝑡𝑖𝑚𝑢𝑚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𝑏𝑎𝑡𝑐h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𝑏𝑎𝑠𝑒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133600"/>
                <a:ext cx="4990084" cy="528286"/>
              </a:xfrm>
              <a:prstGeom prst="rect">
                <a:avLst/>
              </a:prstGeom>
              <a:blipFill rotWithShape="0">
                <a:blip r:embed="rId3"/>
                <a:stretch>
                  <a:fillRect l="-1100" b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828800" y="5105400"/>
            <a:ext cx="5541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As the dataset grows  relative update times </a:t>
            </a:r>
            <a:r>
              <a:rPr lang="en-US" dirty="0" smtClean="0">
                <a:solidFill>
                  <a:srgbClr val="0070C0"/>
                </a:solidFill>
              </a:rPr>
              <a:t>declines</a:t>
            </a:r>
            <a:r>
              <a:rPr lang="en-US" dirty="0" smtClean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24000"/>
            <a:ext cx="7463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Calculating ability of the Incremental SVD for different sizes of dataset </a:t>
            </a:r>
            <a:endParaRPr lang="en-US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819400"/>
            <a:ext cx="5962650" cy="16383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895600" y="4495800"/>
            <a:ext cx="3962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         Essay vectors (thousands</a:t>
            </a:r>
            <a:r>
              <a:rPr lang="en-US" dirty="0"/>
              <a:t>) ----&gt;</a:t>
            </a:r>
          </a:p>
        </p:txBody>
      </p:sp>
      <p:sp>
        <p:nvSpPr>
          <p:cNvPr id="30" name="Rectangle 29"/>
          <p:cNvSpPr/>
          <p:nvPr/>
        </p:nvSpPr>
        <p:spPr>
          <a:xfrm rot="16200000">
            <a:off x="-283415" y="3788615"/>
            <a:ext cx="29173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Relative update times --&gt;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838200" y="5791200"/>
            <a:ext cx="7796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Incremental method performs </a:t>
            </a:r>
            <a:r>
              <a:rPr lang="en-US" dirty="0" smtClean="0">
                <a:solidFill>
                  <a:srgbClr val="0070C0"/>
                </a:solidFill>
              </a:rPr>
              <a:t>more efficiently </a:t>
            </a:r>
            <a:r>
              <a:rPr lang="en-US" dirty="0" smtClean="0"/>
              <a:t>when dataset grows larger. </a:t>
            </a:r>
          </a:p>
        </p:txBody>
      </p:sp>
    </p:spTree>
    <p:extLst>
      <p:ext uri="{BB962C8B-B14F-4D97-AF65-F5344CB8AC3E}">
        <p14:creationId xmlns:p14="http://schemas.microsoft.com/office/powerpoint/2010/main" val="192983855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9" grpId="0"/>
      <p:bldP spid="30" grpId="0"/>
      <p:bldP spid="3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Experimental Results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4999" y="1066800"/>
            <a:ext cx="5398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Memory Usage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838200" y="1447800"/>
            <a:ext cx="48269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Economic </a:t>
            </a:r>
            <a:r>
              <a:rPr lang="en-US" dirty="0" smtClean="0"/>
              <a:t>memory usage in Incremental SVD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057400"/>
            <a:ext cx="7162800" cy="32708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0" y="5410200"/>
            <a:ext cx="3581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Size of the training set ----&gt;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-587682" y="3547632"/>
            <a:ext cx="2763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Memory usage (MB) ----&gt;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62000" y="5867400"/>
            <a:ext cx="78326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Comparison between conventional and Incremental SVD in memory usage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8549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Experimental Results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4999" y="1066800"/>
            <a:ext cx="8058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Scoring Performance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438400" y="1447800"/>
                <a:ext cx="4022961" cy="5963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/>
                  <a:t>Scoring accuracy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US" sz="2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sz="2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2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hsi</m:t>
                            </m:r>
                            <m:r>
                              <m:rPr>
                                <m:nor/>
                              </m:rPr>
                              <a:rPr lang="en-US" sz="20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sz="2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psi</m:t>
                            </m:r>
                            <m:r>
                              <m:rPr>
                                <m:nor/>
                              </m:rPr>
                              <a:rPr lang="en-US" sz="20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))</m:t>
                            </m:r>
                          </m:e>
                        </m:nary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447800"/>
                <a:ext cx="4022961" cy="596382"/>
              </a:xfrm>
              <a:prstGeom prst="rect">
                <a:avLst/>
              </a:prstGeom>
              <a:blipFill rotWithShape="0">
                <a:blip r:embed="rId3"/>
                <a:stretch>
                  <a:fillRect l="-1515" b="-7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657600" y="2133600"/>
                <a:ext cx="2816284" cy="7788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1        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|≤1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0              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𝑂𝑡h𝑒𝑟𝑤𝑖𝑠𝑒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133600"/>
                <a:ext cx="2816284" cy="77886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838200" y="3276600"/>
            <a:ext cx="4065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In experiment Using Incremental LSA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055733"/>
              </p:ext>
            </p:extLst>
          </p:nvPr>
        </p:nvGraphicFramePr>
        <p:xfrm>
          <a:off x="1752600" y="381000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Test Set</a:t>
                      </a:r>
                      <a:r>
                        <a:rPr lang="en-US" baseline="0" dirty="0" smtClean="0"/>
                        <a:t> 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Tolerable Scoring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Scoring</a:t>
                      </a:r>
                      <a:r>
                        <a:rPr lang="en-US" baseline="0" dirty="0" smtClean="0"/>
                        <a:t> Accuracy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88.8%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914400" y="4876800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Incremental LSA has also </a:t>
            </a:r>
            <a:r>
              <a:rPr lang="en-US" dirty="0" smtClean="0">
                <a:solidFill>
                  <a:srgbClr val="0070C0"/>
                </a:solidFill>
              </a:rPr>
              <a:t>scoring accuracy 88.8%. </a:t>
            </a:r>
            <a:r>
              <a:rPr lang="en-US" dirty="0" smtClean="0"/>
              <a:t>This is acceptable.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953000" y="1447800"/>
                <a:ext cx="138531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hsi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psi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1447800"/>
                <a:ext cx="1385316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953000" y="1447800"/>
                <a:ext cx="138531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hsi</m:t>
                      </m:r>
                      <m:r>
                        <m:rPr>
                          <m:nor/>
                        </m:rPr>
                        <a:rPr lang="en-US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r>
                        <m:rPr>
                          <m:nor/>
                        </m:rPr>
                        <a:rPr lang="en-US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psi</m:t>
                      </m:r>
                      <m:r>
                        <m:rPr>
                          <m:nor/>
                        </m:rPr>
                        <a:rPr lang="en-US" sz="2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1447800"/>
                <a:ext cx="1385316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82520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2.22222E-6 L -0.27569 0.1263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85" y="631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22" grpId="0"/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8077200" cy="457199"/>
          </a:xfrm>
          <a:ln w="127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l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1219200"/>
            <a:ext cx="731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solidFill>
                  <a:srgbClr val="0070C0"/>
                </a:solidFill>
              </a:rPr>
              <a:t>Handle Large Dataset </a:t>
            </a:r>
          </a:p>
          <a:p>
            <a:r>
              <a:rPr lang="en-US" dirty="0" smtClean="0"/>
              <a:t>	Can handle large dataset effectively.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213360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solidFill>
                  <a:srgbClr val="0070C0"/>
                </a:solidFill>
              </a:rPr>
              <a:t>Economic Memory Usage</a:t>
            </a:r>
          </a:p>
          <a:p>
            <a:r>
              <a:rPr lang="en-US" dirty="0" smtClean="0"/>
              <a:t>	Effective to reduce the usage of memory.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3400" y="312420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solidFill>
                  <a:srgbClr val="0070C0"/>
                </a:solidFill>
              </a:rPr>
              <a:t>Less Time Consuming</a:t>
            </a:r>
          </a:p>
          <a:p>
            <a:r>
              <a:rPr lang="en-US" dirty="0" smtClean="0"/>
              <a:t>	Consume less time to build the model.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3400" y="5410200"/>
            <a:ext cx="838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Incremental LSA method </a:t>
            </a:r>
            <a:r>
              <a:rPr lang="en-US" dirty="0" smtClean="0">
                <a:solidFill>
                  <a:srgbClr val="0070C0"/>
                </a:solidFill>
              </a:rPr>
              <a:t>performs better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0070C0"/>
                </a:solidFill>
              </a:rPr>
              <a:t>more efficiently </a:t>
            </a:r>
            <a:r>
              <a:rPr lang="en-US" dirty="0" smtClean="0"/>
              <a:t>for larger dataset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33400" y="411480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solidFill>
                  <a:srgbClr val="0070C0"/>
                </a:solidFill>
              </a:rPr>
              <a:t>Better Scoring Performance</a:t>
            </a:r>
          </a:p>
          <a:p>
            <a:r>
              <a:rPr lang="en-US" dirty="0" smtClean="0"/>
              <a:t>	Have acceptable scoring accuracy.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9058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667000" y="2895600"/>
            <a:ext cx="3810000" cy="1143001"/>
          </a:xfrm>
        </p:spPr>
        <p:txBody>
          <a:bodyPr/>
          <a:lstStyle/>
          <a:p>
            <a:r>
              <a:rPr lang="en-US" dirty="0" smtClean="0"/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89319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1940</TotalTime>
  <Words>1293</Words>
  <Application>Microsoft Office PowerPoint</Application>
  <PresentationFormat>On-screen Show (4:3)</PresentationFormat>
  <Paragraphs>322</Paragraphs>
  <Slides>28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Cambria Math</vt:lpstr>
      <vt:lpstr>Century Gothic</vt:lpstr>
      <vt:lpstr>Courier New</vt:lpstr>
      <vt:lpstr>Palatino Linotype</vt:lpstr>
      <vt:lpstr>Times New Roman</vt:lpstr>
      <vt:lpstr>Verdana</vt:lpstr>
      <vt:lpstr>Wingdings</vt:lpstr>
      <vt:lpstr>Executive</vt:lpstr>
      <vt:lpstr>    Automated Essay Scoring  Using Incremental Latent Semantic Analysis </vt:lpstr>
      <vt:lpstr>Overview</vt:lpstr>
      <vt:lpstr>What is AES?</vt:lpstr>
      <vt:lpstr>How does it work?</vt:lpstr>
      <vt:lpstr>Why AES?</vt:lpstr>
      <vt:lpstr>Introduction</vt:lpstr>
      <vt:lpstr>Overview</vt:lpstr>
      <vt:lpstr>Motivation &amp; Related Work</vt:lpstr>
      <vt:lpstr>Overview</vt:lpstr>
      <vt:lpstr>Introduction</vt:lpstr>
      <vt:lpstr>Preliminaries </vt:lpstr>
      <vt:lpstr>Preliminaries</vt:lpstr>
      <vt:lpstr>Preliminaries</vt:lpstr>
      <vt:lpstr>The Proposed Method</vt:lpstr>
      <vt:lpstr>Flow Chart of the Proposed Method</vt:lpstr>
      <vt:lpstr>Proposed Method</vt:lpstr>
      <vt:lpstr>Proposed Method</vt:lpstr>
      <vt:lpstr>Proposed Method</vt:lpstr>
      <vt:lpstr>Proposed Method</vt:lpstr>
      <vt:lpstr>Proposed Approach 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Conclusion</vt:lpstr>
      <vt:lpstr>Thanks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Sarcasm Detection in Twitter “All your products are incredibly amazing!!!” – Are They Really?</dc:title>
  <dc:creator>NOMAN</dc:creator>
  <cp:lastModifiedBy>byapon</cp:lastModifiedBy>
  <cp:revision>362</cp:revision>
  <dcterms:created xsi:type="dcterms:W3CDTF">2016-08-07T18:03:46Z</dcterms:created>
  <dcterms:modified xsi:type="dcterms:W3CDTF">2016-09-01T12:07:23Z</dcterms:modified>
</cp:coreProperties>
</file>